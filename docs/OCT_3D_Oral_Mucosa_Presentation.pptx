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aec37a-eec9-fc25-86f4-4bd17f06ae12}">
          <p14:sldIdLst>
            <p14:sldId id="256"/>
          </p14:sldIdLst>
        </p14:section>
        <p14:section name="Workflow" id="{145c41b9-0beb-c62a-ce50-7f4f1c50441e}">
          <p14:sldIdLst>
            <p14:sldId id="257"/>
            <p14:sldId id="258"/>
            <p14:sldId id="259"/>
            <p14:sldId id="260"/>
            <p14:sldId id="261"/>
          </p14:sldIdLst>
        </p14:section>
        <p14:section name="Suite" id="{a853f009-b02a-c92b-1ec6-3b45193f530b}">
          <p14:sldIdLst>
            <p14:sldId id="262"/>
            <p14:sldId id="263"/>
          </p14:sldIdLst>
        </p14:section>
        <p14:section name="Summary" id="{492080d2-20e2-c52b-6f6b-8624ebd69c75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3D Oral Mucosa platform, the OCT in-vitro assessment application. It manages clinical assay data for the OMM-hMPS tissue model and automates Western blot densitometry.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Researchers see the active study immediately and can jump straight into the assessment module they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gives researchers full control over lane mapping and center percentages before the payload goes for automated 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frontend builds the base64 payload and dispatches the request in the background, without blocking the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the analysis returns, the UI shows the quantified bands, normalizes expression against the loading control and highlights the TD/RD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views are available: an interactive chart for exploration and a publication-grade graph for dossiers.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 covers the full preclinical suite for the 3D oral mucosa model, not only Western blot, with formula computation for the efficacy and safety assays.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quantified data and figures can be exported in one click for traceability and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summarize: a typed, modular web application that takes laboratory blot images through quantification, charting and export in a guided two-step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6B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05840"/>
            <a:ext cx="393192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6B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640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OCT IN-VITRO ASSESSMENT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00584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Oral Mucosa Platform (OCT)</a:t>
            </a:r>
            <a:endParaRPr lang="en-US" sz="30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27432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Clinical assay data management and automated densitometry.</a:t>
            </a:r>
            <a:endParaRPr lang="en-US" sz="1600" dirty="0"/>
          </a:p>
        </p:txBody>
      </p:sp>
      <p:sp>
        <p:nvSpPr>
          <p:cNvPr id="5" name="Tech stack"/>
          <p:cNvSpPr txBox="1"/>
          <p:nvPr/>
        </p:nvSpPr>
        <p:spPr>
          <a:xfrm>
            <a:off x="548640" y="3931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React 18  ·  TypeScript  ·  Redux Toolkit (RTK Query)  ·  Vite  ·  REST API</a:t>
            </a:r>
            <a:endParaRPr lang="en-US" sz="1200" dirty="0"/>
          </a:p>
        </p:txBody>
      </p:sp>
      <p:sp>
        <p:nvSpPr>
          <p:cNvPr id="6" name="Screenshot frame"/>
          <p:cNvSpPr/>
          <p:nvPr/>
        </p:nvSpPr>
        <p:spPr>
          <a:xfrm>
            <a:off x="4690872" y="1596459"/>
            <a:ext cx="4059936" cy="2019161"/>
          </a:xfrm>
          <a:prstGeom prst="roundRect">
            <a:avLst>
              <a:gd name="adj" fmla="val 4529"/>
            </a:avLst>
          </a:prstGeom>
          <a:solidFill>
            <a:srgbClr val="FFFFFF"/>
          </a:solidFill>
          <a:ln w="9525">
            <a:solidFill>
              <a:srgbClr val="B23A5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Screenshot" descr="DART platform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660467"/>
            <a:ext cx="3931920" cy="18911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457200" y="3200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8EDEF"/>
          </a:solidFill>
          <a:ln w="9525">
            <a:solidFill>
              <a:srgbClr val="E8C6CD"/>
            </a:solidFill>
            <a:prstDash val="solid"/>
          </a:ln>
        </p:spPr>
      </p:sp>
      <p:sp>
        <p:nvSpPr>
          <p:cNvPr id="3" name="Eyebrow text"/>
          <p:cNvSpPr txBox="1"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OVERVIEW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Navigation</a:t>
            </a:r>
            <a:endParaRPr lang="en-US" sz="3200" dirty="0"/>
          </a:p>
        </p:txBody>
      </p:sp>
      <p:sp>
        <p:nvSpPr>
          <p:cNvPr id="5" name="Key points"/>
          <p:cNvSpPr txBox="1"/>
          <p:nvPr/>
        </p:nvSpPr>
        <p:spPr>
          <a:xfrm>
            <a:off x="457200" y="141732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Active study context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OCT-001: Test Drug vs Reference Drug on OMM-hMPS tissue.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Three assessment modules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Mechanistic analysis, Efficacy assessment and Safety assessment.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Guided navigation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Sidebar links to Project, Experimental Data, Analysis, Reports and History &amp; Settings.</a:t>
            </a:r>
            <a:endParaRPr lang="en-US" sz="1500" dirty="0"/>
          </a:p>
        </p:txBody>
      </p:sp>
      <p:sp>
        <p:nvSpPr>
          <p:cNvPr id="6" name="Screenshot frame"/>
          <p:cNvSpPr/>
          <p:nvPr/>
        </p:nvSpPr>
        <p:spPr>
          <a:xfrm>
            <a:off x="4142232" y="1487379"/>
            <a:ext cx="4608576" cy="228304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Screenshot" descr="DART platform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51387"/>
            <a:ext cx="4480560" cy="2155026"/>
          </a:xfrm>
          <a:prstGeom prst="rect">
            <a:avLst/>
          </a:prstGeom>
        </p:spPr>
      </p:pic>
      <p:sp>
        <p:nvSpPr>
          <p:cNvPr id="8" name="Callout card"/>
          <p:cNvSpPr/>
          <p:nvPr/>
        </p:nvSpPr>
        <p:spPr>
          <a:xfrm>
            <a:off x="4206240" y="4023360"/>
            <a:ext cx="44805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9" name="Callout figure"/>
          <p:cNvSpPr txBox="1"/>
          <p:nvPr/>
        </p:nvSpPr>
        <p:spPr>
          <a:xfrm>
            <a:off x="4389120" y="40233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Callout label"/>
          <p:cNvSpPr txBox="1"/>
          <p:nvPr/>
        </p:nvSpPr>
        <p:spPr>
          <a:xfrm>
            <a:off x="5806440" y="4023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assessment modules: Mechanistic, Efficacy, Safety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457200" y="320040"/>
            <a:ext cx="2153412" cy="256032"/>
          </a:xfrm>
          <a:prstGeom prst="roundRect">
            <a:avLst>
              <a:gd name="adj" fmla="val 50000"/>
            </a:avLst>
          </a:prstGeom>
          <a:solidFill>
            <a:srgbClr val="F8EDEF"/>
          </a:solidFill>
          <a:ln w="9525">
            <a:solidFill>
              <a:srgbClr val="E8C6CD"/>
            </a:solidFill>
            <a:prstDash val="solid"/>
          </a:ln>
        </p:spPr>
      </p:sp>
      <p:sp>
        <p:nvSpPr>
          <p:cNvPr id="3" name="Eyebrow text"/>
          <p:cNvSpPr txBox="1"/>
          <p:nvPr/>
        </p:nvSpPr>
        <p:spPr>
          <a:xfrm>
            <a:off x="457200" y="320040"/>
            <a:ext cx="2153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WESTERN BLOT  ·  STEP 1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Upload &amp; Lane Mapping</a:t>
            </a:r>
            <a:endParaRPr lang="en-US" sz="3200" dirty="0"/>
          </a:p>
        </p:txBody>
      </p:sp>
      <p:sp>
        <p:nvSpPr>
          <p:cNvPr id="5" name="Key points"/>
          <p:cNvSpPr txBox="1"/>
          <p:nvPr/>
        </p:nvSpPr>
        <p:spPr>
          <a:xfrm>
            <a:off x="457200" y="141732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Dual image upload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Target protein and β-actin loading-control blot images.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Lane mapping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Per-lane number, category, group (TD, RD, Control, Ignore/Ladder) and estimated center percentage.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Readiness checks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Both images and the lane mapping are validated before analysis is enabled.</a:t>
            </a:r>
            <a:endParaRPr lang="en-US" sz="1500" dirty="0"/>
          </a:p>
        </p:txBody>
      </p:sp>
      <p:sp>
        <p:nvSpPr>
          <p:cNvPr id="6" name="Screenshot frame"/>
          <p:cNvSpPr/>
          <p:nvPr/>
        </p:nvSpPr>
        <p:spPr>
          <a:xfrm>
            <a:off x="4142232" y="1487379"/>
            <a:ext cx="4608576" cy="228304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Screenshot" descr="DART platform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51387"/>
            <a:ext cx="4480560" cy="2155026"/>
          </a:xfrm>
          <a:prstGeom prst="rect">
            <a:avLst/>
          </a:prstGeom>
        </p:spPr>
      </p:pic>
      <p:sp>
        <p:nvSpPr>
          <p:cNvPr id="8" name="Callout card"/>
          <p:cNvSpPr/>
          <p:nvPr/>
        </p:nvSpPr>
        <p:spPr>
          <a:xfrm>
            <a:off x="4206240" y="4023360"/>
            <a:ext cx="44805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9" name="Callout figure"/>
          <p:cNvSpPr txBox="1"/>
          <p:nvPr/>
        </p:nvSpPr>
        <p:spPr>
          <a:xfrm>
            <a:off x="4389120" y="40233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2–12</a:t>
            </a:r>
            <a:endParaRPr lang="en-US" sz="2000" dirty="0"/>
          </a:p>
        </p:txBody>
      </p:sp>
      <p:sp>
        <p:nvSpPr>
          <p:cNvPr id="10" name="Callout label"/>
          <p:cNvSpPr txBox="1"/>
          <p:nvPr/>
        </p:nvSpPr>
        <p:spPr>
          <a:xfrm>
            <a:off x="5806440" y="4023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configurable lane counts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457200" y="320040"/>
            <a:ext cx="2308860" cy="256032"/>
          </a:xfrm>
          <a:prstGeom prst="roundRect">
            <a:avLst>
              <a:gd name="adj" fmla="val 50000"/>
            </a:avLst>
          </a:prstGeom>
          <a:solidFill>
            <a:srgbClr val="F8EDEF"/>
          </a:solidFill>
          <a:ln w="9525">
            <a:solidFill>
              <a:srgbClr val="E8C6CD"/>
            </a:solidFill>
            <a:prstDash val="solid"/>
          </a:ln>
        </p:spPr>
      </p:sp>
      <p:sp>
        <p:nvSpPr>
          <p:cNvPr id="3" name="Eyebrow text"/>
          <p:cNvSpPr txBox="1"/>
          <p:nvPr/>
        </p:nvSpPr>
        <p:spPr>
          <a:xfrm>
            <a:off x="457200" y="320040"/>
            <a:ext cx="23088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WESTERN BLOT  ·  ANALYSIS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Analysis Pipeline</a:t>
            </a:r>
            <a:endParaRPr lang="en-US" sz="3200" dirty="0"/>
          </a:p>
        </p:txBody>
      </p:sp>
      <p:sp>
        <p:nvSpPr>
          <p:cNvPr id="5" name="Key points"/>
          <p:cNvSpPr txBox="1"/>
          <p:nvPr/>
        </p:nvSpPr>
        <p:spPr>
          <a:xfrm>
            <a:off x="457200" y="141732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Base64 payload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Blot images are encoded in the browser and sent as a standard JSON payload.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One-click analysis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Analyze &amp; View Results triggers an RTK Query mutation to /analyze.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Error handling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Loading states, user toasts and a local fallback if the backend is unavailable.</a:t>
            </a:r>
            <a:endParaRPr lang="en-US" sz="1500" dirty="0"/>
          </a:p>
        </p:txBody>
      </p:sp>
      <p:sp>
        <p:nvSpPr>
          <p:cNvPr id="6" name="Screenshot frame"/>
          <p:cNvSpPr/>
          <p:nvPr/>
        </p:nvSpPr>
        <p:spPr>
          <a:xfrm>
            <a:off x="4142232" y="1487379"/>
            <a:ext cx="4608576" cy="228304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Screenshot" descr="DART platform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51387"/>
            <a:ext cx="4480560" cy="2155026"/>
          </a:xfrm>
          <a:prstGeom prst="rect">
            <a:avLst/>
          </a:prstGeom>
        </p:spPr>
      </p:pic>
      <p:sp>
        <p:nvSpPr>
          <p:cNvPr id="8" name="Callout card"/>
          <p:cNvSpPr/>
          <p:nvPr/>
        </p:nvSpPr>
        <p:spPr>
          <a:xfrm>
            <a:off x="4206240" y="4023360"/>
            <a:ext cx="44805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9" name="Callout figure"/>
          <p:cNvSpPr txBox="1"/>
          <p:nvPr/>
        </p:nvSpPr>
        <p:spPr>
          <a:xfrm>
            <a:off x="4389120" y="40233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click</a:t>
            </a:r>
            <a:endParaRPr lang="en-US" sz="2000" dirty="0"/>
          </a:p>
        </p:txBody>
      </p:sp>
      <p:sp>
        <p:nvSpPr>
          <p:cNvPr id="10" name="Callout label"/>
          <p:cNvSpPr txBox="1"/>
          <p:nvPr/>
        </p:nvSpPr>
        <p:spPr>
          <a:xfrm>
            <a:off x="5806440" y="4023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from lane mapping to results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457200" y="320040"/>
            <a:ext cx="2153412" cy="256032"/>
          </a:xfrm>
          <a:prstGeom prst="roundRect">
            <a:avLst>
              <a:gd name="adj" fmla="val 50000"/>
            </a:avLst>
          </a:prstGeom>
          <a:solidFill>
            <a:srgbClr val="F8EDEF"/>
          </a:solidFill>
          <a:ln w="9525">
            <a:solidFill>
              <a:srgbClr val="E8C6CD"/>
            </a:solidFill>
            <a:prstDash val="solid"/>
          </a:ln>
        </p:spPr>
      </p:sp>
      <p:sp>
        <p:nvSpPr>
          <p:cNvPr id="3" name="Eyebrow text"/>
          <p:cNvSpPr txBox="1"/>
          <p:nvPr/>
        </p:nvSpPr>
        <p:spPr>
          <a:xfrm>
            <a:off x="457200" y="320040"/>
            <a:ext cx="2153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WESTERN BLOT  ·  STEP 2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Densitometry Results</a:t>
            </a:r>
            <a:endParaRPr lang="en-US" sz="3200" dirty="0"/>
          </a:p>
        </p:txBody>
      </p:sp>
      <p:sp>
        <p:nvSpPr>
          <p:cNvPr id="5" name="Key points"/>
          <p:cNvSpPr txBox="1"/>
          <p:nvPr/>
        </p:nvSpPr>
        <p:spPr>
          <a:xfrm>
            <a:off x="457200" y="141732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Overlay verification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Processed blots show detected band zones and lane dividers.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Quantification table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Background-subtracted intensity, β-actin normalization, fold change vs reference, ranking and active/excluded status.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Clinical KPIs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Mean TD expression, mean RD expression and the TD/RD ratio.</a:t>
            </a:r>
            <a:endParaRPr lang="en-US" sz="1500" dirty="0"/>
          </a:p>
        </p:txBody>
      </p:sp>
      <p:sp>
        <p:nvSpPr>
          <p:cNvPr id="6" name="Screenshot frame"/>
          <p:cNvSpPr/>
          <p:nvPr/>
        </p:nvSpPr>
        <p:spPr>
          <a:xfrm>
            <a:off x="4142232" y="1487379"/>
            <a:ext cx="4608576" cy="228304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Screenshot" descr="DART platform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51387"/>
            <a:ext cx="4480560" cy="2155026"/>
          </a:xfrm>
          <a:prstGeom prst="rect">
            <a:avLst/>
          </a:prstGeom>
        </p:spPr>
      </p:pic>
      <p:sp>
        <p:nvSpPr>
          <p:cNvPr id="8" name="Callout card"/>
          <p:cNvSpPr/>
          <p:nvPr/>
        </p:nvSpPr>
        <p:spPr>
          <a:xfrm>
            <a:off x="4206240" y="4023360"/>
            <a:ext cx="44805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9" name="Callout figure"/>
          <p:cNvSpPr txBox="1"/>
          <p:nvPr/>
        </p:nvSpPr>
        <p:spPr>
          <a:xfrm>
            <a:off x="4389120" y="40233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Callout label"/>
          <p:cNvSpPr txBox="1"/>
          <p:nvPr/>
        </p:nvSpPr>
        <p:spPr>
          <a:xfrm>
            <a:off x="5806440" y="4023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KPIs: Mean TD, Mean RD, TD/RD ratio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457200" y="320040"/>
            <a:ext cx="2153412" cy="256032"/>
          </a:xfrm>
          <a:prstGeom prst="roundRect">
            <a:avLst>
              <a:gd name="adj" fmla="val 50000"/>
            </a:avLst>
          </a:prstGeom>
          <a:solidFill>
            <a:srgbClr val="F8EDEF"/>
          </a:solidFill>
          <a:ln w="9525">
            <a:solidFill>
              <a:srgbClr val="E8C6CD"/>
            </a:solidFill>
            <a:prstDash val="solid"/>
          </a:ln>
        </p:spPr>
      </p:sp>
      <p:sp>
        <p:nvSpPr>
          <p:cNvPr id="3" name="Eyebrow text"/>
          <p:cNvSpPr txBox="1"/>
          <p:nvPr/>
        </p:nvSpPr>
        <p:spPr>
          <a:xfrm>
            <a:off x="457200" y="320040"/>
            <a:ext cx="2153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WESTERN BLOT  ·  CHARTS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 &amp; Comparison</a:t>
            </a:r>
            <a:endParaRPr lang="en-US" sz="3200" dirty="0"/>
          </a:p>
        </p:txBody>
      </p:sp>
      <p:sp>
        <p:nvSpPr>
          <p:cNvPr id="5" name="Key points"/>
          <p:cNvSpPr txBox="1"/>
          <p:nvPr/>
        </p:nvSpPr>
        <p:spPr>
          <a:xfrm>
            <a:off x="457200" y="141732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Two visual modes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Publication-quality graph image and an interactive SVG grouped bar chart.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Metric switcher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Normalized expression, fold change or target intensity.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Interactive details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Hover states, baseline threshold lines and replicate tracking.</a:t>
            </a:r>
            <a:endParaRPr lang="en-US" sz="1500" dirty="0"/>
          </a:p>
        </p:txBody>
      </p:sp>
      <p:sp>
        <p:nvSpPr>
          <p:cNvPr id="6" name="Screenshot frame"/>
          <p:cNvSpPr/>
          <p:nvPr/>
        </p:nvSpPr>
        <p:spPr>
          <a:xfrm>
            <a:off x="4142232" y="1487379"/>
            <a:ext cx="4608576" cy="228304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Screenshot" descr="DART platform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51387"/>
            <a:ext cx="4480560" cy="2155026"/>
          </a:xfrm>
          <a:prstGeom prst="rect">
            <a:avLst/>
          </a:prstGeom>
        </p:spPr>
      </p:pic>
      <p:sp>
        <p:nvSpPr>
          <p:cNvPr id="8" name="Callout card"/>
          <p:cNvSpPr/>
          <p:nvPr/>
        </p:nvSpPr>
        <p:spPr>
          <a:xfrm>
            <a:off x="4206240" y="4023360"/>
            <a:ext cx="44805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9" name="Callout figure"/>
          <p:cNvSpPr txBox="1"/>
          <p:nvPr/>
        </p:nvSpPr>
        <p:spPr>
          <a:xfrm>
            <a:off x="4389120" y="40233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Callout label"/>
          <p:cNvSpPr txBox="1"/>
          <p:nvPr/>
        </p:nvSpPr>
        <p:spPr>
          <a:xfrm>
            <a:off x="5806440" y="4023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switchable metric views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457200" y="3200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8EDEF"/>
          </a:solidFill>
          <a:ln w="9525">
            <a:solidFill>
              <a:srgbClr val="E8C6CD"/>
            </a:solidFill>
            <a:prstDash val="solid"/>
          </a:ln>
        </p:spPr>
      </p:sp>
      <p:sp>
        <p:nvSpPr>
          <p:cNvPr id="3" name="Eyebrow text"/>
          <p:cNvSpPr txBox="1"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ASSAY SUITE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Multi-Assay Suite</a:t>
            </a:r>
            <a:endParaRPr lang="en-US" sz="3200" dirty="0"/>
          </a:p>
        </p:txBody>
      </p:sp>
      <p:sp>
        <p:nvSpPr>
          <p:cNvPr id="5" name="Key points"/>
          <p:cNvSpPr txBox="1"/>
          <p:nvPr/>
        </p:nvSpPr>
        <p:spPr>
          <a:xfrm>
            <a:off x="457200" y="141732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Mechanistic analysis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Growth factor induction (VEGF, TGF-β1, EGF, KGF) and nociception RT-PCR (2^-ΔΔCt).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Efficacy assessment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Wound healing (closure %, migration rate) and barrier integrity (TEER).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Safety assessment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Induced inflammation, mycoplasma testing, adventitious agents and carcinogenicity.</a:t>
            </a:r>
            <a:endParaRPr lang="en-US" sz="1500" dirty="0"/>
          </a:p>
        </p:txBody>
      </p:sp>
      <p:sp>
        <p:nvSpPr>
          <p:cNvPr id="6" name="Screenshot frame"/>
          <p:cNvSpPr/>
          <p:nvPr/>
        </p:nvSpPr>
        <p:spPr>
          <a:xfrm>
            <a:off x="4142232" y="1487379"/>
            <a:ext cx="4608576" cy="228304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Screenshot" descr="DART platform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51387"/>
            <a:ext cx="4480560" cy="2155026"/>
          </a:xfrm>
          <a:prstGeom prst="rect">
            <a:avLst/>
          </a:prstGeom>
        </p:spPr>
      </p:pic>
      <p:sp>
        <p:nvSpPr>
          <p:cNvPr id="8" name="Callout card"/>
          <p:cNvSpPr/>
          <p:nvPr/>
        </p:nvSpPr>
        <p:spPr>
          <a:xfrm>
            <a:off x="4206240" y="4023360"/>
            <a:ext cx="44805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9" name="Callout figure"/>
          <p:cNvSpPr txBox="1"/>
          <p:nvPr/>
        </p:nvSpPr>
        <p:spPr>
          <a:xfrm>
            <a:off x="4389120" y="40233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0" name="Callout label"/>
          <p:cNvSpPr txBox="1"/>
          <p:nvPr/>
        </p:nvSpPr>
        <p:spPr>
          <a:xfrm>
            <a:off x="5806440" y="4023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assays across three modules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457200" y="3200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8EDEF"/>
          </a:solidFill>
          <a:ln w="9525">
            <a:solidFill>
              <a:srgbClr val="E8C6CD"/>
            </a:solidFill>
            <a:prstDash val="solid"/>
          </a:ln>
        </p:spPr>
      </p:sp>
      <p:sp>
        <p:nvSpPr>
          <p:cNvPr id="3" name="Eyebrow text"/>
          <p:cNvSpPr txBox="1"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OUTPUTS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&amp; Reporting</a:t>
            </a:r>
            <a:endParaRPr lang="en-US" sz="3200" dirty="0"/>
          </a:p>
        </p:txBody>
      </p:sp>
      <p:sp>
        <p:nvSpPr>
          <p:cNvPr id="5" name="Key points"/>
          <p:cNvSpPr txBox="1"/>
          <p:nvPr/>
        </p:nvSpPr>
        <p:spPr>
          <a:xfrm>
            <a:off x="457200" y="141732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CSV export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Tabular results for LIMS or statistical tools such as GraphPad Prism, R and Python.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Graph download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High-resolution figure for dossiers and slide decks.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Report download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Structured report with study parameters, raw values and normalized results.</a:t>
            </a:r>
            <a:endParaRPr lang="en-US" sz="1500" dirty="0"/>
          </a:p>
        </p:txBody>
      </p:sp>
      <p:sp>
        <p:nvSpPr>
          <p:cNvPr id="6" name="Screenshot frame"/>
          <p:cNvSpPr/>
          <p:nvPr/>
        </p:nvSpPr>
        <p:spPr>
          <a:xfrm>
            <a:off x="4142232" y="1487379"/>
            <a:ext cx="4608576" cy="228304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Screenshot" descr="DART platform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51387"/>
            <a:ext cx="4480560" cy="2155026"/>
          </a:xfrm>
          <a:prstGeom prst="rect">
            <a:avLst/>
          </a:prstGeom>
        </p:spPr>
      </p:pic>
      <p:sp>
        <p:nvSpPr>
          <p:cNvPr id="8" name="Callout card"/>
          <p:cNvSpPr/>
          <p:nvPr/>
        </p:nvSpPr>
        <p:spPr>
          <a:xfrm>
            <a:off x="4206240" y="4023360"/>
            <a:ext cx="44805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9" name="Callout figure"/>
          <p:cNvSpPr txBox="1"/>
          <p:nvPr/>
        </p:nvSpPr>
        <p:spPr>
          <a:xfrm>
            <a:off x="4389120" y="40233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Callout label"/>
          <p:cNvSpPr txBox="1"/>
          <p:nvPr/>
        </p:nvSpPr>
        <p:spPr>
          <a:xfrm>
            <a:off x="5806440" y="4023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downloads: CSV, graph PNG, report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457200" y="3200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8A1B30"/>
          </a:solidFill>
          <a:ln w="9525">
            <a:solidFill>
              <a:srgbClr val="B23A52"/>
            </a:solidFill>
            <a:prstDash val="solid"/>
          </a:ln>
        </p:spPr>
      </p:sp>
      <p:sp>
        <p:nvSpPr>
          <p:cNvPr id="3" name="Eyebrow text"/>
          <p:cNvSpPr txBox="1"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SUMMARY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Summary</a:t>
            </a:r>
            <a:endParaRPr lang="en-US" sz="3200" dirty="0"/>
          </a:p>
        </p:txBody>
      </p:sp>
      <p:sp>
        <p:nvSpPr>
          <p:cNvPr id="5" name="Key points"/>
          <p:cNvSpPr txBox="1"/>
          <p:nvPr/>
        </p:nvSpPr>
        <p:spPr>
          <a:xfrm>
            <a:off x="457200" y="141732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Typed data flow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React, TypeScript and Redux Toolkit with RTK Query for API state.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Guided lab workflow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A two-step upload-and-results flow replaces manual spreadsheet calculations.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Extensible design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Modular assay structure can add tissue models or higher throughput.</a:t>
            </a:r>
            <a:endParaRPr lang="en-US" sz="1500" dirty="0"/>
          </a:p>
        </p:txBody>
      </p:sp>
      <p:sp>
        <p:nvSpPr>
          <p:cNvPr id="6" name="Screenshot frame"/>
          <p:cNvSpPr/>
          <p:nvPr/>
        </p:nvSpPr>
        <p:spPr>
          <a:xfrm>
            <a:off x="4142232" y="1487379"/>
            <a:ext cx="4608576" cy="228304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B23A5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Screenshot" descr="DART platform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51387"/>
            <a:ext cx="4480560" cy="2155026"/>
          </a:xfrm>
          <a:prstGeom prst="rect">
            <a:avLst/>
          </a:prstGeom>
        </p:spPr>
      </p:pic>
      <p:sp>
        <p:nvSpPr>
          <p:cNvPr id="8" name="Callout card"/>
          <p:cNvSpPr/>
          <p:nvPr/>
        </p:nvSpPr>
        <p:spPr>
          <a:xfrm>
            <a:off x="4206240" y="4023360"/>
            <a:ext cx="4480560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B23A52"/>
            </a:solidFill>
            <a:prstDash val="solid"/>
          </a:ln>
        </p:spPr>
      </p:sp>
      <p:sp>
        <p:nvSpPr>
          <p:cNvPr id="9" name="Callout figure"/>
          <p:cNvSpPr txBox="1"/>
          <p:nvPr/>
        </p:nvSpPr>
        <p:spPr>
          <a:xfrm>
            <a:off x="4389120" y="40233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2-step</a:t>
            </a:r>
            <a:endParaRPr lang="en-US" sz="2000" dirty="0"/>
          </a:p>
        </p:txBody>
      </p:sp>
      <p:sp>
        <p:nvSpPr>
          <p:cNvPr id="10" name="Callout label"/>
          <p:cNvSpPr txBox="1"/>
          <p:nvPr/>
        </p:nvSpPr>
        <p:spPr>
          <a:xfrm>
            <a:off x="5806440" y="4023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upload → results workflow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T Oral Mucosa">
  <a:themeElements>
    <a:clrScheme name="OCT Oral Mucosa">
      <a:dk1>
        <a:srgbClr val="1F2937"/>
      </a:dk1>
      <a:lt1>
        <a:srgbClr val="FFFFFF"/>
      </a:lt1>
      <a:dk2>
        <a:srgbClr val="6B0D1E"/>
      </a:dk2>
      <a:lt2>
        <a:srgbClr val="F8EDEF"/>
      </a:lt2>
      <a:accent1>
        <a:srgbClr val="6B0D1E"/>
      </a:accent1>
      <a:accent2>
        <a:srgbClr val="B23A52"/>
      </a:accent2>
      <a:accent3>
        <a:srgbClr val="F2C4CC"/>
      </a:accent3>
      <a:accent4>
        <a:srgbClr val="2A0509"/>
      </a:accent4>
      <a:accent5>
        <a:srgbClr val="6B7280"/>
      </a:accent5>
      <a:accent6>
        <a:srgbClr val="D9A441"/>
      </a:accent6>
      <a:hlink>
        <a:srgbClr val="6B0D1E"/>
      </a:hlink>
      <a:folHlink>
        <a:srgbClr val="B23A52"/>
      </a:folHlink>
    </a:clrScheme>
    <a:fontScheme name="OCT Oral Mucos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Oral Mucosa Platform (OCT)</dc:title>
  <dc:subject>PptxGenJS Presentation</dc:subject>
  <dc:creator>OCT Platform</dc:creator>
  <cp:lastModifiedBy>OCT Platform</cp:lastModifiedBy>
  <cp:revision>1</cp:revision>
  <dcterms:created xsi:type="dcterms:W3CDTF">2026-10-25T17:15:50Z</dcterms:created>
  <dcterms:modified xsi:type="dcterms:W3CDTF">2026-10-25T17:15:50Z</dcterms:modified>
</cp:coreProperties>
</file>